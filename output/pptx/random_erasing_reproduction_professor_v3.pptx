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3f4faa90ef478c" /><Relationship Type="http://schemas.openxmlformats.org/officeDocument/2006/relationships/extended-properties" Target="/docProps/app.xml" Id="Re930008993a64725" /><Relationship Type="http://schemas.openxmlformats.org/officeDocument/2006/relationships/officeDocument" Target="/ppt/presentation.xml" Id="R23a62512b82c452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918f118ed064549"/>
  </p:sldMasterIdLst>
  <p:notesMasterIdLst>
    <p:notesMasterId xmlns:r="http://schemas.openxmlformats.org/officeDocument/2006/relationships" r:id="Re232f5d5f2c04e04"/>
  </p:notesMasterIdLst>
  <p:sldIdLst>
    <p:sldId xmlns:r="http://schemas.openxmlformats.org/officeDocument/2006/relationships" id="256" r:id="R2822faf841fc49e0"/>
    <p:sldId xmlns:r="http://schemas.openxmlformats.org/officeDocument/2006/relationships" id="257" r:id="R08f8a9fe02ef4b58"/>
    <p:sldId xmlns:r="http://schemas.openxmlformats.org/officeDocument/2006/relationships" id="258" r:id="Rf4f324e877f44932"/>
    <p:sldId xmlns:r="http://schemas.openxmlformats.org/officeDocument/2006/relationships" id="259" r:id="R0c6c2a82b8ea487e"/>
    <p:sldId xmlns:r="http://schemas.openxmlformats.org/officeDocument/2006/relationships" id="260" r:id="Rb79abde2c5c5408b"/>
    <p:sldId xmlns:r="http://schemas.openxmlformats.org/officeDocument/2006/relationships" id="261" r:id="R3ad4fbf658964633"/>
    <p:sldId xmlns:r="http://schemas.openxmlformats.org/officeDocument/2006/relationships" id="262" r:id="Rd1efa1e3d716476d"/>
    <p:sldId xmlns:r="http://schemas.openxmlformats.org/officeDocument/2006/relationships" id="263" r:id="R0c2400e030d24f5f"/>
    <p:sldId xmlns:r="http://schemas.openxmlformats.org/officeDocument/2006/relationships" id="264" r:id="R313855a536cc44ac"/>
    <p:sldId xmlns:r="http://schemas.openxmlformats.org/officeDocument/2006/relationships" id="265" r:id="Rc90a833e86f948ed"/>
    <p:sldId xmlns:r="http://schemas.openxmlformats.org/officeDocument/2006/relationships" id="266" r:id="R64a4149290b04e38"/>
    <p:sldId xmlns:r="http://schemas.openxmlformats.org/officeDocument/2006/relationships" id="267" r:id="R90239faa616e4827"/>
    <p:sldId xmlns:r="http://schemas.openxmlformats.org/officeDocument/2006/relationships" id="268" r:id="R2e53a593f4be462f"/>
    <p:sldId xmlns:r="http://schemas.openxmlformats.org/officeDocument/2006/relationships" id="269" r:id="R98772a8bb02140a6"/>
    <p:sldId xmlns:r="http://schemas.openxmlformats.org/officeDocument/2006/relationships" id="270" r:id="R14860afbf3ba4709"/>
    <p:sldId xmlns:r="http://schemas.openxmlformats.org/officeDocument/2006/relationships" id="271" r:id="R37c180c9533d45c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c9d18828c9f9434e"/>
      <p:bold xmlns:r="http://schemas.openxmlformats.org/officeDocument/2006/relationships" r:id="Rff90aaf6bc85486e"/>
      <p:italic xmlns:r="http://schemas.openxmlformats.org/officeDocument/2006/relationships" r:id="Ra91b2be035744008"/>
      <p:boldItalic xmlns:r="http://schemas.openxmlformats.org/officeDocument/2006/relationships" r:id="R72e62e9cc09b4ca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454cd68dbe40ad" /><Relationship Type="http://schemas.openxmlformats.org/officeDocument/2006/relationships/slideMaster" Target="/ppt/slideMasters/slideMaster1.xml" Id="R7918f118ed064549" /><Relationship Type="http://schemas.openxmlformats.org/officeDocument/2006/relationships/notesMaster" Target="/ppt/notesMasters/notesMaster1.xml" Id="Re232f5d5f2c04e04" /><Relationship Type="http://schemas.openxmlformats.org/officeDocument/2006/relationships/presProps" Target="/ppt/presProps.xml" Id="Re21478e0ba4843d1" /><Relationship Type="http://schemas.openxmlformats.org/officeDocument/2006/relationships/viewProps" Target="/ppt/viewProps.xml" Id="R87feabe2cd234256" /><Relationship Type="http://schemas.openxmlformats.org/officeDocument/2006/relationships/tableStyles" Target="/ppt/tableStyles.xml" Id="R1bf88b990af44328" /><Relationship Type="http://schemas.openxmlformats.org/officeDocument/2006/relationships/font" Target="/ppt/fonts/font.dat" Id="Rc9d18828c9f9434e" /><Relationship Type="http://schemas.openxmlformats.org/officeDocument/2006/relationships/font" Target="/ppt/fonts/font2.dat" Id="Rff90aaf6bc85486e" /><Relationship Type="http://schemas.openxmlformats.org/officeDocument/2006/relationships/font" Target="/ppt/fonts/font3.dat" Id="Ra91b2be035744008" /><Relationship Type="http://schemas.openxmlformats.org/officeDocument/2006/relationships/font" Target="/ppt/fonts/font4.dat" Id="R72e62e9cc09b4caf" /><Relationship Type="http://schemas.openxmlformats.org/officeDocument/2006/relationships/slide" Target="/ppt/slides/slide1.xml" Id="R2822faf841fc49e0" /><Relationship Type="http://schemas.openxmlformats.org/officeDocument/2006/relationships/slide" Target="/ppt/slides/slide2.xml" Id="R08f8a9fe02ef4b58" /><Relationship Type="http://schemas.openxmlformats.org/officeDocument/2006/relationships/slide" Target="/ppt/slides/slide3.xml" Id="Rf4f324e877f44932" /><Relationship Type="http://schemas.openxmlformats.org/officeDocument/2006/relationships/slide" Target="/ppt/slides/slide4.xml" Id="R0c6c2a82b8ea487e" /><Relationship Type="http://schemas.openxmlformats.org/officeDocument/2006/relationships/slide" Target="/ppt/slides/slide5.xml" Id="Rb79abde2c5c5408b" /><Relationship Type="http://schemas.openxmlformats.org/officeDocument/2006/relationships/slide" Target="/ppt/slides/slide6.xml" Id="R3ad4fbf658964633" /><Relationship Type="http://schemas.openxmlformats.org/officeDocument/2006/relationships/slide" Target="/ppt/slides/slide7.xml" Id="Rd1efa1e3d716476d" /><Relationship Type="http://schemas.openxmlformats.org/officeDocument/2006/relationships/slide" Target="/ppt/slides/slide8.xml" Id="R0c2400e030d24f5f" /><Relationship Type="http://schemas.openxmlformats.org/officeDocument/2006/relationships/slide" Target="/ppt/slides/slide9.xml" Id="R313855a536cc44ac" /><Relationship Type="http://schemas.openxmlformats.org/officeDocument/2006/relationships/slide" Target="/ppt/slides/slide10.xml" Id="Rc90a833e86f948ed" /><Relationship Type="http://schemas.openxmlformats.org/officeDocument/2006/relationships/slide" Target="/ppt/slides/slide11.xml" Id="R64a4149290b04e38" /><Relationship Type="http://schemas.openxmlformats.org/officeDocument/2006/relationships/slide" Target="/ppt/slides/slide12.xml" Id="R90239faa616e4827" /><Relationship Type="http://schemas.openxmlformats.org/officeDocument/2006/relationships/slide" Target="/ppt/slides/slide13.xml" Id="R2e53a593f4be462f" /><Relationship Type="http://schemas.openxmlformats.org/officeDocument/2006/relationships/slide" Target="/ppt/slides/slide14.xml" Id="R98772a8bb02140a6" /><Relationship Type="http://schemas.openxmlformats.org/officeDocument/2006/relationships/slide" Target="/ppt/slides/slide15.xml" Id="R14860afbf3ba4709" /><Relationship Type="http://schemas.openxmlformats.org/officeDocument/2006/relationships/slide" Target="/ppt/slides/slide16.xml" Id="R37c180c9533d45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50eecf161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7344e69be74d79" /><Relationship Type="http://schemas.openxmlformats.org/officeDocument/2006/relationships/notesMaster" Target="/ppt/notesMasters/notesMaster1.xml" Id="Rdcdb16c75cd143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14abd768ce4e58" /><Relationship Type="http://schemas.openxmlformats.org/officeDocument/2006/relationships/notesMaster" Target="/ppt/notesMasters/notesMaster1.xml" Id="R6d9edb0097e642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1e32b9b184b6e" /><Relationship Type="http://schemas.openxmlformats.org/officeDocument/2006/relationships/notesMaster" Target="/ppt/notesMasters/notesMaster1.xml" Id="R06fe3c1f61274d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421f40fc545f7" /><Relationship Type="http://schemas.openxmlformats.org/officeDocument/2006/relationships/notesMaster" Target="/ppt/notesMasters/notesMaster1.xml" Id="Ra623639240b0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67e9f97e04855" /><Relationship Type="http://schemas.openxmlformats.org/officeDocument/2006/relationships/notesMaster" Target="/ppt/notesMasters/notesMaster1.xml" Id="R0e6687214cd54c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96de29fbc4c20" /><Relationship Type="http://schemas.openxmlformats.org/officeDocument/2006/relationships/notesMaster" Target="/ppt/notesMasters/notesMaster1.xml" Id="Rc1f03fd15f014e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ed9f7043f7481e" /><Relationship Type="http://schemas.openxmlformats.org/officeDocument/2006/relationships/notesMaster" Target="/ppt/notesMasters/notesMaster1.xml" Id="R14ab2e0d4a9b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1fd9e772e4a84" /><Relationship Type="http://schemas.openxmlformats.org/officeDocument/2006/relationships/notesMaster" Target="/ppt/notesMasters/notesMaster1.xml" Id="Rbe93358c6a8f48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a108df38c24b87" /><Relationship Type="http://schemas.openxmlformats.org/officeDocument/2006/relationships/notesMaster" Target="/ppt/notesMasters/notesMaster1.xml" Id="Ra6358b1a49fb4d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06b7592ec94c23" /><Relationship Type="http://schemas.openxmlformats.org/officeDocument/2006/relationships/notesMaster" Target="/ppt/notesMasters/notesMaster1.xml" Id="R69b180ec53614b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7e9ff79a4846db" /><Relationship Type="http://schemas.openxmlformats.org/officeDocument/2006/relationships/notesMaster" Target="/ppt/notesMasters/notesMaster1.xml" Id="Rd0cc7066c7454b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fce7ffa04c42dd" /><Relationship Type="http://schemas.openxmlformats.org/officeDocument/2006/relationships/notesMaster" Target="/ppt/notesMasters/notesMaster1.xml" Id="R24af72c0d4e34c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e28511fad64860" /><Relationship Type="http://schemas.openxmlformats.org/officeDocument/2006/relationships/notesMaster" Target="/ppt/notesMasters/notesMaster1.xml" Id="Rc3372d3d87bc49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53a846cd4e411e" /><Relationship Type="http://schemas.openxmlformats.org/officeDocument/2006/relationships/notesMaster" Target="/ppt/notesMasters/notesMaster1.xml" Id="Rfd6cc4e3be1448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970a00ad924b38" /><Relationship Type="http://schemas.openxmlformats.org/officeDocument/2006/relationships/notesMaster" Target="/ppt/notesMasters/notesMaster1.xml" Id="R3e891da0152a43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4e0d2e3c334670" /><Relationship Type="http://schemas.openxmlformats.org/officeDocument/2006/relationships/notesMaster" Target="/ppt/notesMasters/notesMaster1.xml" Id="R1553afcf1c504d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開場說法：這不是整篇論文的完整重現，而是針對 Table 1 中 ResNet-20/32 × 三個資料集的核心分類子集，做 5 次重跑、統計與差異分析。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  <a:p xmlns:a="http://schemas.openxmlformats.org/drawingml/2006/main">
            <a:r>
              <a:t>來源：E:/Random Erasing Data Augmentation/1708.04896v2.pdf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秒版：方向全部成功重現；CIFAR 絕對值大多接近；Fashion-MNIST 有一致偏高，必須誠實列為未完全對齊。</a:t>
            </a:r>
          </a:p>
          <a:p xmlns:a="http://schemas.openxmlformats.org/drawingml/2006/main">
            <a:r>
              <a:t>平均增益：論文 0.6917 pp，本專案 0.6230 pp，比例約 90.1%。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  <a:p xmlns:a="http://schemas.openxmlformats.org/drawingml/2006/main">
            <a:r>
              <a:t>來源：E:/Random Erasing Data Augmentation/runs/*_aggregate.json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白話說法：這像是在訓練時故意貼一塊遮蔽物，逼模型學整體形狀與其他可用線索。</a:t>
            </a:r>
          </a:p>
          <a:p xmlns:a="http://schemas.openxmlformats.org/drawingml/2006/main">
            <a:r>
              <a:t>論文分類設定：p=0.5, sl=0.02, sh=0.4, r1=0.3, r2=1/0.3。</a:t>
            </a:r>
          </a:p>
          <a:p xmlns:a="http://schemas.openxmlformats.org/drawingml/2006/main">
            <a:r>
              <a:t>來源：E:/Random Erasing Data Augmentation/1708.04896v2.pdf，第 1、3、4 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回答教授：哪個才是正確？如果要驗證論文文字，就用 paper_random；如果要驗證作者公開實作，就用 author_fixed。本專案沒有把兩者混在同一組結果。</a:t>
            </a:r>
          </a:p>
          <a:p xmlns:a="http://schemas.openxmlformats.org/drawingml/2006/main">
            <a:r>
              <a:t>來源：E:/Random Erasing Data Augmentation/1708.04896v2.pdf，第 3 頁 Algorithm 1。</a:t>
            </a:r>
          </a:p>
          <a:p xmlns:a="http://schemas.openxmlformats.org/drawingml/2006/main">
            <a:r>
              <a:t>來源：E:/Random Erasing Data Augmentation/vendor/Random-Erasing/transforms.py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組來源：ResNet-20/32 × 3 datasets × baseline/paper_random = 12 組，再加 ResNet-20 × 3 datasets 的 author_fixed = 3 組。</a:t>
            </a:r>
          </a:p>
          <a:p xmlns:a="http://schemas.openxmlformats.org/drawingml/2006/main">
            <a:r>
              <a:t>每組 seeds 1001–1005，共 5 runs。</a:t>
            </a:r>
          </a:p>
          <a:p xmlns:a="http://schemas.openxmlformats.org/drawingml/2006/main">
            <a:r>
              <a:t>來源：E:/Random Erasing Data Augmentation/docs/reproduction_spec.md</a:t>
            </a:r>
          </a:p>
          <a:p xmlns:a="http://schemas.openxmlformats.org/drawingml/2006/main">
            <a:r>
              <a:t>來源：E:/Random Erasing Data Augmentation/runs/*_aggregate.json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若教授問有沒有挑結果：正式統計固定取 75 個 formal runs；smoke 與中止校準資料夾明確排除。</a:t>
            </a:r>
          </a:p>
          <a:p xmlns:a="http://schemas.openxmlformats.org/drawingml/2006/main">
            <a:r>
              <a:t>所有 75 個 best.pt 已 strict load；所有摘要與聚合數值可從逐 epoch CSV 重算。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  <a:p xmlns:a="http://schemas.openxmlformats.org/drawingml/2006/main">
            <a:r>
              <a:t>來源：E:/Random Erasing Data Augmentation/runs/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逐組改善（論文 / 本專案）：C10-R20 0.480/0.344；C10-R32 0.750/0.566；C100-R20 0.870/0.776；C100-R32 1.320/1.610；Fashion-R20 0.370/0.198；Fashion-R32 0.360/0.244。</a:t>
            </a:r>
          </a:p>
          <a:p xmlns:a="http://schemas.openxmlformats.org/drawingml/2006/main">
            <a:r>
              <a:t>來源：E:/Random Erasing Data Augmentation/1708.04896v2.pdf，Table 1。</a:t>
            </a:r>
          </a:p>
          <a:p xmlns:a="http://schemas.openxmlformats.org/drawingml/2006/main">
            <a:r>
              <a:t>來源：E:/Random Erasing Data Augmentation/runs/*_aggregate.json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不要只看平均：本頁保留每個平均值的標準差。專案統一採母體標準差，但論文未說明，因此 std 不能要求逐字對齊。</a:t>
            </a:r>
          </a:p>
          <a:p xmlns:a="http://schemas.openxmlformats.org/drawingml/2006/main">
            <a:r>
              <a:t>來源：E:/Random Erasing Data Augmentation/1708.04896v2.pdf，Table 1。</a:t>
            </a:r>
          </a:p>
          <a:p xmlns:a="http://schemas.openxmlformats.org/drawingml/2006/main">
            <a:r>
              <a:t>來源：E:/Random Erasing Data Augmentation/runs/*_aggregate.json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CIFAR mean absolute error = 0.185 pp。7/8 值差距不超過 0.25 pp。</a:t>
            </a:r>
          </a:p>
          <a:p xmlns:a="http://schemas.openxmlformats.org/drawingml/2006/main">
            <a:r>
              <a:t>C100-R32 baseline 本專案比論文高 0.532 pp；其 RE 也高 0.242 pp，但改善幅度反而大於論文。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最安全的說法：我們觀察到 Fashion-MNIST 全部數字偏高，但目前沒有足夠證據把原因歸因到單一因素。</a:t>
            </a:r>
          </a:p>
          <a:p xmlns:a="http://schemas.openxmlformats.org/drawingml/2006/main">
            <a:r>
              <a:t>後續作者 README 曾提到較新版 Fashion-MNIST 的結果偏低，但那是 2018 年後續註記，不是 2017 年論文或本專案固定 commit 的同期證據。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author_fixed 相對 paper_random 差 0.066、0.166、0.026 pp。樣本只有每組 5 runs，不應做過強顯著性結論。</a:t>
            </a:r>
          </a:p>
          <a:p xmlns:a="http://schemas.openxmlformats.org/drawingml/2006/main">
            <a:r>
              <a:t>來源：E:/Random Erasing Data Augmentation/runs/*author*_aggregate.json</a:t>
            </a:r>
          </a:p>
          <a:p xmlns:a="http://schemas.openxmlformats.org/drawingml/2006/main">
            <a:r>
              <a:t>來源：E:/Random Erasing Data Augmentation/runs/*paper*_aggregate.json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best-final gap 全部組別範圍 0.118 到 1.128 pp。這代表如果不先對齊統計口徑，可能把口徑差誤判成復現失敗。</a:t>
            </a:r>
          </a:p>
          <a:p xmlns:a="http://schemas.openxmlformats.org/drawingml/2006/main">
            <a:r>
              <a:t>來源：E:/Random Erasing Data Augmentation/runs/*_aggregate.json</a:t>
            </a:r>
          </a:p>
          <a:p xmlns:a="http://schemas.openxmlformats.org/drawingml/2006/main">
            <a:r>
              <a:t>來源：E:/Random Erasing Data Augmentation/vendor/Random-Erasing/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若被追問『是不是資料版本造成 Fashion 差距』：回答目前只能列為假設，尚未做受控版本對照，不能當作已證實原因。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  <a:p xmlns:a="http://schemas.openxmlformats.org/drawingml/2006/main">
            <a:r>
              <a:t>來源：E:/Random Erasing Data Augmentation/pyproject.toml</a:t>
            </a:r>
          </a:p>
          <a:p xmlns:a="http://schemas.openxmlformats.org/drawingml/2006/main">
            <a:r>
              <a:t>來源：E:/Random Erasing Data Augmentation/runs/*/environment.json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1 共有 13 架構 × 3 資料集 = 39 個 dataset/model rows；本專案完成 R20/R32 × 3 = 6 rows。</a:t>
            </a:r>
          </a:p>
          <a:p xmlns:a="http://schemas.openxmlformats.org/drawingml/2006/main">
            <a:r>
              <a:t>此外完成 3 個 author_fixed R20 對照組，但它們不增加 Table 1 的 row coverage。</a:t>
            </a:r>
          </a:p>
          <a:p xmlns:a="http://schemas.openxmlformats.org/drawingml/2006/main">
            <a:r>
              <a:t>來源：E:/Random Erasing Data Augmentation/1708.04896v2.pdf，Tables 1–9、Figures 4–5。</a:t>
            </a:r>
          </a:p>
          <a:p xmlns:a="http://schemas.openxmlformats.org/drawingml/2006/main">
            <a:r>
              <a:t>來源：E:/Random Erasing Data Augmentation/docs/reproduction_report.md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Q1 補充：若教授要求更嚴格定義，可說『方向性 reproduction 成功；exact replication 未達成』。</a:t>
            </a:r>
          </a:p>
          <a:p xmlns:a="http://schemas.openxmlformats.org/drawingml/2006/main">
            <a:r>
              <a:t>Q2 補充：5 runs 是對齊論文，不代表統計力一定充足；若要顯著性推論，需更多 runs 或預先定義檢定。</a:t>
            </a:r>
          </a:p>
          <a:p xmlns:a="http://schemas.openxmlformats.org/drawingml/2006/main">
            <a:r>
              <a:t>Q4 補充：後續作者註記只能當線索，不能當因果證明。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建議收尾：『這份工作不是把差距藏起來，而是把可重現的效果、未重現的部分、以及下一步驗證方法分開說清楚。』</a:t>
            </a:r>
          </a:p>
          <a:p xmlns:a="http://schemas.openxmlformats.org/drawingml/2006/main">
            <a:r>
              <a:t>可展示檔案：E:/Random Erasing Data Augmentation/docs/reproduction_report.md</a:t>
            </a:r>
          </a:p>
          <a:p xmlns:a="http://schemas.openxmlformats.org/drawingml/2006/main">
            <a:r>
              <a:t>可展示檔案：E:/Random Erasing Data Augmentation/runs/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606fa3f1a42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3c5d7c1304a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5eaa8212a45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fe797b7d44a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20a83368540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db4de40ab4c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2a995c97a45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56a1ddae941e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76e437ed142c0" /><Relationship Type="http://schemas.openxmlformats.org/officeDocument/2006/relationships/slideLayout" Target="/ppt/slideLayouts/slideLayout1.xml" Id="R898f61daf36343e4" /><Relationship Type="http://schemas.openxmlformats.org/officeDocument/2006/relationships/slideLayout" Target="/ppt/slideLayouts/slideLayout2.xml" Id="R1364f6978ada43ef" /><Relationship Type="http://schemas.openxmlformats.org/officeDocument/2006/relationships/slideLayout" Target="/ppt/slideLayouts/slideLayout3.xml" Id="R274b2349073d4d84" /><Relationship Type="http://schemas.openxmlformats.org/officeDocument/2006/relationships/slideLayout" Target="/ppt/slideLayouts/slideLayout4.xml" Id="R2c27b277be424a82" /><Relationship Type="http://schemas.openxmlformats.org/officeDocument/2006/relationships/slideLayout" Target="/ppt/slideLayouts/slideLayout5.xml" Id="R28dcefcb25e24d12" /><Relationship Type="http://schemas.openxmlformats.org/officeDocument/2006/relationships/slideLayout" Target="/ppt/slideLayouts/slideLayout6.xml" Id="R9df9842829534eac" /><Relationship Type="http://schemas.openxmlformats.org/officeDocument/2006/relationships/slideLayout" Target="/ppt/slideLayouts/slideLayout7.xml" Id="Re76c8bff41784e0e" /><Relationship Type="http://schemas.openxmlformats.org/officeDocument/2006/relationships/slideLayout" Target="/ppt/slideLayouts/slideLayout8.xml" Id="R1ba859e897d447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8f61daf36343e4"/>
    <p:sldLayoutId xmlns:r="http://schemas.openxmlformats.org/officeDocument/2006/relationships" id="2147483650" r:id="R1364f6978ada43ef"/>
    <p:sldLayoutId xmlns:r="http://schemas.openxmlformats.org/officeDocument/2006/relationships" id="2147483651" r:id="R274b2349073d4d84"/>
    <p:sldLayoutId xmlns:r="http://schemas.openxmlformats.org/officeDocument/2006/relationships" id="2147483652" r:id="R2c27b277be424a82"/>
    <p:sldLayoutId xmlns:r="http://schemas.openxmlformats.org/officeDocument/2006/relationships" id="2147483653" r:id="R28dcefcb25e24d12"/>
    <p:sldLayoutId xmlns:r="http://schemas.openxmlformats.org/officeDocument/2006/relationships" id="2147483654" r:id="R9df9842829534eac"/>
    <p:sldLayoutId xmlns:r="http://schemas.openxmlformats.org/officeDocument/2006/relationships" id="2147483655" r:id="Re76c8bff41784e0e"/>
    <p:sldLayoutId xmlns:r="http://schemas.openxmlformats.org/officeDocument/2006/relationships" id="2147483656" r:id="R1ba859e897d447f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4ef88b08dda4712" /><Relationship Type="http://schemas.openxmlformats.org/officeDocument/2006/relationships/notesSlide" Target="/ppt/notesSlides/notesSlide1.xml" Id="R90c7499dc8004a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7f3b9ce21134395" /><Relationship Type="http://schemas.openxmlformats.org/officeDocument/2006/relationships/notesSlide" Target="/ppt/notesSlides/notesSlide2.xml" Id="R731969bd122e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e90c32c4174839" /><Relationship Type="http://schemas.openxmlformats.org/officeDocument/2006/relationships/image" Target="/ppt/media/image.png" Id="Rad8c80e59b3741b6" /><Relationship Type="http://schemas.openxmlformats.org/officeDocument/2006/relationships/notesSlide" Target="/ppt/notesSlides/notesSlide3.xml" Id="R6fc860944afd4e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55c703a429842a7" /><Relationship Type="http://schemas.openxmlformats.org/officeDocument/2006/relationships/notesSlide" Target="/ppt/notesSlides/notesSlide4.xml" Id="Re0c276f0160941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f4d9f6af42e4a96" /><Relationship Type="http://schemas.openxmlformats.org/officeDocument/2006/relationships/notesSlide" Target="/ppt/notesSlides/notesSlide5.xml" Id="Ra593d5d1cbd6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d8439b231a64ae6" /><Relationship Type="http://schemas.openxmlformats.org/officeDocument/2006/relationships/notesSlide" Target="/ppt/notesSlides/notesSlide6.xml" Id="R165adfd3172b4b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3e9a764955743d1" /><Relationship Type="http://schemas.openxmlformats.org/officeDocument/2006/relationships/chart" Target="/ppt/slides/charts/chart1.xml" Id="R826a493c165643a5" /><Relationship Type="http://schemas.openxmlformats.org/officeDocument/2006/relationships/notesSlide" Target="/ppt/notesSlides/notesSlide7.xml" Id="Re89fd0c6acf34f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b3828ae47b43a5" /><Relationship Type="http://schemas.openxmlformats.org/officeDocument/2006/relationships/notesSlide" Target="/ppt/notesSlides/notesSlide8.xml" Id="R2904c0c98df140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c37ae033c224b45" /><Relationship Type="http://schemas.openxmlformats.org/officeDocument/2006/relationships/chart" Target="/ppt/slides/charts/chart2.xml" Id="R899e8148c3464bd0" /><Relationship Type="http://schemas.openxmlformats.org/officeDocument/2006/relationships/notesSlide" Target="/ppt/notesSlides/notesSlide9.xml" Id="R9faef2aa77074e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838e34da8bf4053" /><Relationship Type="http://schemas.openxmlformats.org/officeDocument/2006/relationships/notesSlide" Target="/ppt/notesSlides/notesSlide10.xml" Id="Rdbc85d9ce8204a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57f351038494c64" /><Relationship Type="http://schemas.openxmlformats.org/officeDocument/2006/relationships/notesSlide" Target="/ppt/notesSlides/notesSlide11.xml" Id="Rc635c45611ef4e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52e0991b96e4bbd" /><Relationship Type="http://schemas.openxmlformats.org/officeDocument/2006/relationships/notesSlide" Target="/ppt/notesSlides/notesSlide12.xml" Id="R9a8957f24a914c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ced798dc40e44f9" /><Relationship Type="http://schemas.openxmlformats.org/officeDocument/2006/relationships/notesSlide" Target="/ppt/notesSlides/notesSlide13.xml" Id="Rbb86af1fc06848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a306e8970794d41" /><Relationship Type="http://schemas.openxmlformats.org/officeDocument/2006/relationships/notesSlide" Target="/ppt/notesSlides/notesSlide14.xml" Id="R293cf0e154d249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6dae47a4a634195" /><Relationship Type="http://schemas.openxmlformats.org/officeDocument/2006/relationships/notesSlide" Target="/ppt/notesSlides/notesSlide15.xml" Id="Raa8d0f1df3294f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0cc8e31f5634ca7" /><Relationship Type="http://schemas.openxmlformats.org/officeDocument/2006/relationships/notesSlide" Target="/ppt/notesSlides/notesSlide16.xml" Id="R1f7c95c79d9f42d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論文</c:v>
          </c:tx>
          <c:spPr>
            <a:solidFill xmlns:a="http://schemas.openxmlformats.org/drawingml/2006/main">
              <a:srgbClr val="315C9B"/>
            </a:solidFill>
          </c:spPr>
          <c:cat>
            <c:strLit>
              <c:ptCount val="6"/>
              <c:pt idx="0">
                <c:v>C10 R20</c:v>
              </c:pt>
              <c:pt idx="1">
                <c:v>C10 R32</c:v>
              </c:pt>
              <c:pt idx="2">
                <c:v>C100 R20</c:v>
              </c:pt>
              <c:pt idx="3">
                <c:v>C100 R32</c:v>
              </c:pt>
              <c:pt idx="4">
                <c:v>FMNIST R20</c:v>
              </c:pt>
              <c:pt idx="5">
                <c:v>FMNIST R32</c:v>
              </c:pt>
            </c:strLit>
          </c:cat>
          <c:val>
            <c:numLit>
              <c:formatCode>0.000</c:formatCode>
              <c:ptCount val="6"/>
              <c:pt idx="0">
                <c:v>0.48</c:v>
              </c:pt>
              <c:pt idx="1">
                <c:v>0.75</c:v>
              </c:pt>
              <c:pt idx="2">
                <c:v>0.87</c:v>
              </c:pt>
              <c:pt idx="3">
                <c:v>1.32</c:v>
              </c:pt>
              <c:pt idx="4">
                <c:v>0.37</c:v>
              </c:pt>
              <c:pt idx="5">
                <c:v>0.36</c:v>
              </c:pt>
            </c:numLit>
          </c:val>
        </c:ser>
        <c:ser>
          <c:idx val="1"/>
          <c:order val="1"/>
          <c:tx>
            <c:v>本專案</c:v>
          </c:tx>
          <c:spPr>
            <a:solidFill xmlns:a="http://schemas.openxmlformats.org/drawingml/2006/main">
              <a:srgbClr val="E96B3B"/>
            </a:solidFill>
          </c:spPr>
          <c:cat>
            <c:strLit>
              <c:ptCount val="6"/>
              <c:pt idx="0">
                <c:v>C10 R20</c:v>
              </c:pt>
              <c:pt idx="1">
                <c:v>C10 R32</c:v>
              </c:pt>
              <c:pt idx="2">
                <c:v>C100 R20</c:v>
              </c:pt>
              <c:pt idx="3">
                <c:v>C100 R32</c:v>
              </c:pt>
              <c:pt idx="4">
                <c:v>FMNIST R20</c:v>
              </c:pt>
              <c:pt idx="5">
                <c:v>FMNIST R32</c:v>
              </c:pt>
            </c:strLit>
          </c:cat>
          <c:val>
            <c:numLit>
              <c:formatCode>0.000</c:formatCode>
              <c:ptCount val="6"/>
              <c:pt idx="0">
                <c:v>0.344</c:v>
              </c:pt>
              <c:pt idx="1">
                <c:v>0.566</c:v>
              </c:pt>
              <c:pt idx="2">
                <c:v>0.776</c:v>
              </c:pt>
              <c:pt idx="3">
                <c:v>1.61</c:v>
              </c:pt>
              <c:pt idx="4">
                <c:v>0.198</c:v>
              </c:pt>
              <c:pt idx="5">
                <c:v>0.244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  <a:latin typeface="Microsoft JhengHei"/>
                    <a:ea typeface="Microsoft JhengHei"/>
                    <a:cs typeface="Microsoft JhengHei"/>
                  </a:rPr>
                  <a:t>錯誤率改善（百分點）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3"/>
      </c:valAx>
      <c:spPr>
        <a:solidFill xmlns:a="http://schemas.openxmlformats.org/drawingml/2006/main">
          <a:srgbClr val="FBFAF7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827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BFAF7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|本專案 − 論文|</c:v>
          </c:tx>
          <c:spPr>
            <a:solidFill xmlns:a="http://schemas.openxmlformats.org/drawingml/2006/main">
              <a:srgbClr val="315C9B"/>
            </a:solidFill>
          </c:spPr>
          <c:cat>
            <c:strLit>
              <c:ptCount val="8"/>
              <c:pt idx="0">
                <c:v>C10 R20 B</c:v>
              </c:pt>
              <c:pt idx="1">
                <c:v>C10 R20 RE</c:v>
              </c:pt>
              <c:pt idx="2">
                <c:v>C10 R32 B</c:v>
              </c:pt>
              <c:pt idx="3">
                <c:v>C10 R32 RE</c:v>
              </c:pt>
              <c:pt idx="4">
                <c:v>C100 R20 B</c:v>
              </c:pt>
              <c:pt idx="5">
                <c:v>C100 R20 RE</c:v>
              </c:pt>
              <c:pt idx="6">
                <c:v>C100 R32 B</c:v>
              </c:pt>
              <c:pt idx="7">
                <c:v>C100 R32 RE</c:v>
              </c:pt>
            </c:strLit>
          </c:cat>
          <c:val>
            <c:numLit>
              <c:formatCode>General</c:formatCode>
              <c:ptCount val="8"/>
              <c:pt idx="0">
                <c:v>0.188</c:v>
              </c:pt>
              <c:pt idx="1">
                <c:v>0.052</c:v>
              </c:pt>
              <c:pt idx="2">
                <c:v>0.142</c:v>
              </c:pt>
              <c:pt idx="3">
                <c:v>0.042</c:v>
              </c:pt>
              <c:pt idx="4">
                <c:v>0.188</c:v>
              </c:pt>
              <c:pt idx="5">
                <c:v>0.094</c:v>
              </c:pt>
              <c:pt idx="6">
                <c:v>0.532</c:v>
              </c:pt>
              <c:pt idx="7">
                <c:v>0.242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DE6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D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BFAF7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AF7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89A8A-6143-42BA-A3A4-809A30E3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研究復現簡報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56C6D-4870-40E1-AD0F-005B4180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Random Erasing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Data Augmentation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1354B-ED56-4207-B815-3DEAC221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核心分類結果復現、差異分析與口試問答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4499A-81F7-4BB5-AC7D-A03A5B5E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24A1A-4909-427D-916F-B0F86A8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767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75 runs  ·  3 datasets  ·  ResNet-20/32  ·  5 seeds  ·  300 epochs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060A-B782-4265-B8B4-7FB9EED2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資料截止：2026-09-05｜本簡報只宣稱完成論文的核心分類子集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3823A-7299-421C-AEF8-A8DF791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62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復現專案</a:t>
            </a:r>
          </a:p>
        </p:txBody>
      </p:sp>
    </p:spTree>
    <p:extLst>
      <p:ext uri="{BB962C8B-B14F-4D97-AF65-F5344CB8AC3E}">
        <p14:creationId xmlns:p14="http://schemas.microsoft.com/office/powerpoint/2010/main" val="1448744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B1E0F-A53A-4647-8FCE-FF63753A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先講結論：主旨有重現，數字不是逐點一致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8BB0D-7803-423E-A52E-71A554DD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把教授最可能先問的答案放在前面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DF07E-4127-4BEE-8D4F-24C9F148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C44FA-8846-46D2-8F74-3023AA76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A2BF0-15F0-4385-802B-60B0841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6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3B1DA-1028-4C60-91BD-11EB442E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方向一致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71F17-521A-447C-B18B-61AD76BD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Baseline → RE，六組錯誤率全降。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31B21-EC4C-40AA-A1B7-261A28E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90.1%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784E7-25C3-44B0-8FC3-0C701C7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平均增益重現率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F0F42-534A-4AD8-9C84-F06DB869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論文 0.692 pp；本專案 0.623 pp。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D911E-3B8C-4C39-B2C3-1CF3C181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7 / 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912F4-AE0C-430D-88F9-344EA8AA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 數值接近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56B7F-6A0E-4A9B-938F-35A458C2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CIFAR 八個值中，七個差距 ≤ 0.25 pp。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9D8E2-A37D-4AB9-BAB1-3B2E9DD2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主要未解差距：Fashion-MNIST 的四個絕對數值比論文高 0.394 到 0.772 個百分點。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16F8B-03D7-415C-BC85-A3C1A24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7A6AC-D2D3-4AD4-A4EF-D37B0A6F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比較基準：論文 Table 1；本專案使用 5 runs 的最佳測試錯誤率平均與母體標準差</a:t>
            </a:r>
          </a:p>
        </p:txBody>
      </p:sp>
    </p:spTree>
    <p:extLst>
      <p:ext uri="{BB962C8B-B14F-4D97-AF65-F5344CB8AC3E}">
        <p14:creationId xmlns:p14="http://schemas.microsoft.com/office/powerpoint/2010/main" val="1475928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D178A-7DCE-4521-A882-B85F812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Random Erasing 做了什麼？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0B4ED-9E78-4F25-8996-B9BF9AD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在訓練影像中隨機遮住一塊矩形，讓模型不要只依賴局部線索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3FD45-56C5-4342-97DC-2CBCB615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328F3-2D45-480F-BC9B-925C688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A976B-7A28-42DA-A9F4-9FE8E030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4290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879C-BAD3-4381-9DE6-F61BB703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71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2DA39-8780-43C7-AF5C-490951A9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907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1  決定是否擦除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BEF03-AEE9-4070-BBB4-37D879AD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71700"/>
            <a:ext cx="3028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每張訓練影像以 p = 0.5 進行 Random Erasing。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4A4C3-4A39-4B46-8A18-95701FA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34290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77A9B-1B1B-4DEF-AC2C-6CEC715E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F68A9-1E80-410A-A4C4-88D81D9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718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2  抽樣矩形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33972-B883-427A-8D2F-E17DD85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3028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面積占影像 2%–40%；長寬比約 0.3–3.33；位置隨機。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4CE0F-0661-48B4-875D-CB34AC81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3429000" cy="1190625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44F0C-C862-4307-B172-3375CF60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71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82858-B487-46E0-9BF6-FA8DAAD1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958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3  填入像素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9292A-4D67-413A-B683-54EE7A5D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76825"/>
            <a:ext cx="3028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論文寫法是對擦除區域填入隨機值；只在訓練時使用。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c80e59b3741b6"/>
          <a:srcRect xmlns:a="http://schemas.openxmlformats.org/drawingml/2006/main" l="0" t="26601" r="0" b="26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571625"/>
            <a:ext cx="676275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2F71A-E563-43AC-B9D5-BF73B95E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102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原論文 Figure 1：同一張影像可產生不同位置、大小與填充值的遮擋。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3920B-912E-48C5-B7E5-6D7D4CCD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74D2E-41A0-4E87-B398-36A2961F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來源：Random Erasing Data Augmentation，Figure 1 與 Algorithm 1</a:t>
            </a:r>
          </a:p>
        </p:txBody>
      </p:sp>
    </p:spTree>
    <p:extLst>
      <p:ext uri="{BB962C8B-B14F-4D97-AF65-F5344CB8AC3E}">
        <p14:creationId xmlns:p14="http://schemas.microsoft.com/office/powerpoint/2010/main" val="2056464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D4F1D-F876-4FF2-9A59-C52A3167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論文版與作者程式碼版的填法不一致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BFF0-415E-48A3-81CB-13BB18C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這是本專案特別分開實作、分開報告的原因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2789D-B8D4-4960-AD97-215EA0F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7452C-37A2-4E6F-8080-20541BE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14B8F-D4A4-4850-B1A1-C67B502D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435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CAE2A-B227-47DA-8A45-A9B69FC5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715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815D9-0B55-4710-B1C1-1C765441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38325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論文文字版：paper_random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DE25C-0C1E-4FB5-90B3-2116C653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19325"/>
            <a:ext cx="47434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擦除區域每個像素獨立取隨機值。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本專案實作為正規化前連續 U[0,1)；論文只寫 Rand(0,255)，未說連續或離散，因此不是 bit-exact。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47C90-DBD1-46ED-AAF5-16A7F3A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5143500" cy="30003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5F730-BC30-4143-8560-0D4D33C4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5715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753CD-3E24-4A82-9862-C3149C5A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38325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作者程式碼版：author_fixed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5E443-3BF9-4C8E-9B6C-C2040460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19325"/>
            <a:ext cx="474345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擦除區域填固定通道值。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 正規化後 [0.4914, 0.4822, 0.4465]；換算原始像素約 [150.657, 147.479, 136.743]。Fashion 值約 71.936。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4E2A3-CDCA-40A0-AED1-F94CB7B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結論：不能把「論文演算法描述」與「作者倉庫實作」當成完全相同；兩者都要測。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A4ED2-66BB-4A9E-B8EE-9F905A8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ADBB5-D20F-4478-87BC-959BEFC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作者程式碼固定於 commit ddae4ed1eeaa5cf234e6deef9c9a2531464516dd</a:t>
            </a:r>
          </a:p>
        </p:txBody>
      </p:sp>
    </p:spTree>
    <p:extLst>
      <p:ext uri="{BB962C8B-B14F-4D97-AF65-F5344CB8AC3E}">
        <p14:creationId xmlns:p14="http://schemas.microsoft.com/office/powerpoint/2010/main" val="2017822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7004C-BF88-4C3F-A0A4-4B253482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復現設計：15 組設定，每組 5 次獨立訓練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E8280-840D-4117-A920-23A0ABA8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固定訓練流程，只改資料集、模型深度與擦除版本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55D7F-D882-4505-B53B-E5A73527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6072D-F652-4AF9-8C20-50132B3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10E79-5FEA-4BC1-A3A9-3F51DF3D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資料集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A9A5A-68CF-456A-9B03-8478A402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CIFAR-10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CIFAR-100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Fashion-MNIST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95C33-AC96-468E-B76D-8AF5FFEF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145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BF2FA-E42C-40F8-99CE-4561D6A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717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ResNet-20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ResNet-32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0CDFC-EA8C-4953-B967-45CBDFD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條件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960CB-EA26-4AD8-BF3F-22C2B9E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71700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Baseline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Paper Random Erasing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Author Fixed（R20）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92E91-DB3E-4C9A-B6B3-B6523422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1C133-D776-4913-9511-554D52D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672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共同設定  </a:t>
            </a:r>
            <a:r>
              <a: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300 epochs  ·  batch 128  ·  SGD  ·  LR 0.1 → 0.01 → 0.001（150 / 225 epoch）  ·  padding 4 + crop + flip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4060E-110F-42E8-A595-70A4688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15 groups × 5 seeds = 75 formal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3C321-DE33-4BE4-A660-8463EEB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940726-CE37-4D06-B558-32529E94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論文 Table 1 規格；author_fixed 僅加入 ResNet-20 的三個資料集作對照</a:t>
            </a:r>
          </a:p>
        </p:txBody>
      </p:sp>
    </p:spTree>
    <p:extLst>
      <p:ext uri="{BB962C8B-B14F-4D97-AF65-F5344CB8AC3E}">
        <p14:creationId xmlns:p14="http://schemas.microsoft.com/office/powerpoint/2010/main" val="1327152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8E7F7-03CE-4116-B390-3749B0D2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先證明資料可信：完整性檢查全部通過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71896-CCA9-40CA-9D14-F0E9C57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這一頁不是結果好不好，而是確認結果真的來自完整訓練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FA040-2860-47B1-A94F-E4C8D7F5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0885-DD51-4723-A63E-511F7884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4EAC-D893-4198-8891-FF1D77DB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75 / 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34669-6553-410B-8B33-72BCAB72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checkpoint 可讀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CC7AA-B63B-4E4B-AE58-50E83D1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全部 best.pt 可嚴格載入，模型結構吻合。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C8581-92A8-4EEB-AF2C-9C405A55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22,500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DA4C0-419F-44E4-84F9-37ABF8F2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逐 epoch 紀錄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EACCC-DFC8-4219-9B1D-262224AD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75 runs × 300 epochs，列數完整。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C9B14-693C-4AEB-BB2B-FCB840C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15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70F74-507D-4A9B-A834-3A66DF19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統計可重算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82936-9F14-48F1-BA99-D82D3292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所有 aggregate 的 mean、std 與原始 run 重算一致。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BB58A-8502-426D-8017-A93B312F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1000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2000"/>
              </a:lnSpc>
              <a:spcAft>
                <a:spcPts val="6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測試：6 passed；正式 log 無 Traceback、RuntimeError 或 Exception。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6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資料集大小正確：CIFAR 50k/10k；Fashion-MNIST 60k/10k。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6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排除：9 個 smoke run；1 個中止校準 run 只跑 8 epochs，未納入統計。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6C478-79C1-4903-8275-0949D29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628EF-6FF3-4FA1-91EE-BB71B98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稽核依據：metrics.csv、summary.json、aggregate.json、best.pt、訓練 log 與測試結果</a:t>
            </a:r>
          </a:p>
        </p:txBody>
      </p:sp>
    </p:spTree>
    <p:extLst>
      <p:ext uri="{BB962C8B-B14F-4D97-AF65-F5344CB8AC3E}">
        <p14:creationId xmlns:p14="http://schemas.microsoft.com/office/powerpoint/2010/main" val="2071990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89CDA-49F2-443B-B3C1-E4BDDD16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核心結果：六組都改善，平均效果接近論文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4C2A9-2934-428B-B12D-E35D1693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數值是 baseline error − Random Erasing error，越高代表改善越多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8D94F-6C31-4BA1-8D27-CEAEA225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5F89E-F318-43BC-B880-8BE0627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7905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6a493c165643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7BB4B-1D76-4217-906E-BF83970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19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BC6DB-F549-412C-8761-81B5D3F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5715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61C47-65DE-4015-A0C8-6D45A85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1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平均改善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BFCCB-6B70-43D8-A872-CE809ED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2219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 0.692 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本專案 0.623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37183-C1F7-49C2-B10A-A7098A5F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619375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5740C-96B2-4004-8C0D-B3C6266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715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83D50-3A16-433D-BEBA-14BEA50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48075"/>
            <a:ext cx="221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唯一超過論文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C54A3-EF41-4844-B1DF-A91059C9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29075"/>
            <a:ext cx="22193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CIFAR-100 / R32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1.610 vs 1.320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6C57C-D8EA-4402-94B4-76A0338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61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六組方向一致，但各組改善幅度不必然與論文完全相同。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A2EDE-392B-4DCC-BBCD-740FB333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5D6CC-4865-4156-BE8B-54E8172B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pp = percentage point（百分點）；結果使用各 run 的最佳測試錯誤率</a:t>
            </a:r>
          </a:p>
        </p:txBody>
      </p:sp>
    </p:spTree>
    <p:extLst>
      <p:ext uri="{BB962C8B-B14F-4D97-AF65-F5344CB8AC3E}">
        <p14:creationId xmlns:p14="http://schemas.microsoft.com/office/powerpoint/2010/main" val="1838863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829B1-4745-4643-93D3-F5BD27DA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完整數字：與論文 Table 1 的逐列比較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36F49-E706-4024-9624-2F587FA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單位：Top-1 test error %，mean ± population std，5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F39F6-1AAE-4767-AA69-DC857E74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4A983-7806-463B-9968-8E79802D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57200" y="1571625"/>
          <a:ext xmlns:a="http://schemas.openxmlformats.org/drawingml/2006/main" cx="11277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1809750"/>
                <a:gridCol w="1619250"/>
                <a:gridCol w="1809750"/>
                <a:gridCol w="1714500"/>
              </a:tblGrid>
              <a:tr h="58510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資料集 / 模型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論文 Base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 Base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論文 RE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 RE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本專案改善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 / R20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7.21 ± .17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7.022 ± .117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6.73 ± .09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6.678 ± .179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0.344 pp</a:t>
                      </a:r>
                    </a:p>
                  </a:txBody>
                  <a:tcPr marL="66675" marR="66675" marT="66675" marB="66675" anchor="ctr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 / R32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6.41 ± .06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6.268 ± .113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5.66 ± .10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5.702 ± .119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0.566 pp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CIFAR-100 / R20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30.84 ± .19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30.652 ± .228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29.97 ± .11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29.876 ± .325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0.776 pp</a:t>
                      </a:r>
                    </a:p>
                  </a:txBody>
                  <a:tcPr marL="66675" marR="66675" marT="66675" marB="66675" anchor="ctr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CIFAR-100 / R32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28.50 ± .37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29.032 ± .431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27.18 ± .32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27.422 ± .308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1.610 pp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Fashion / R20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4.39 ± .08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4.784 ± .056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4.02 ± .07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4.586 ± .058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0.198 pp</a:t>
                      </a:r>
                    </a:p>
                  </a:txBody>
                  <a:tcPr marL="66675" marR="66675" marT="66675" marB="66675" anchor="ctr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Fashion / R32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4.16 ± .13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4.816 ± .066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3.80 ± .05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96B3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4.572 ± .082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0.244 pp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CF52F-5BC9-445A-868F-0E17C9E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讀法：看方向時比較 Base 與 RE；看復現接近度時比較「論文」與「本專案」欄。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21859-D240-40DD-9552-6CD2F9B8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A533D-3510-4FC9-9C4D-D50CA639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論文未說明使用最佳或最後 epoch，也未說明 std 是母體或樣本標準差</a:t>
            </a:r>
          </a:p>
        </p:txBody>
      </p:sp>
    </p:spTree>
    <p:extLst>
      <p:ext uri="{BB962C8B-B14F-4D97-AF65-F5344CB8AC3E}">
        <p14:creationId xmlns:p14="http://schemas.microsoft.com/office/powerpoint/2010/main" val="930064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9BFB-02C4-40DB-9B0E-68B6E41F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CIFAR：主體最接近，8 個絕對值有 7 個差距 ≤ 0.25 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5069E-52E2-48CA-945A-BDAD909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唯一明顯偏差是 CIFAR-100 / ResNet-32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6CBC7-2F79-4970-87CA-8B787A58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2EE0E-BE1E-4809-B351-EDEA599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8096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9e8148c3464b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085D7-9BE6-447E-9A4C-2F2C2BBF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23812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38331-D1AD-467C-B854-2EFB5C54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57375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44357-5D72-4C74-925F-15C637F5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2882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平均絕對差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E20BD-0002-4308-BA61-487A934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9825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 8 個值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平均 0.185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F6CF4-0FC2-49F8-8E36-3BC5382A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38125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8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DB8F1-C9E7-4B33-B595-D3EE1AA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5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FC268-170E-497D-A504-07B14DD1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最大差距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E6308-2EC5-40FD-904B-DF8BE4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C100 / R32 Base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+0.532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58F1A-9C2E-4A6A-9893-876B770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958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判斷：CIFAR 的核心結果可稱為接近重現，但不能說數字完全相同。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214A3-D269-4228-926C-1AB840CC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77270-6C62-4588-B507-3B085298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圖中取絕對差；正負方向請見完整數字表</a:t>
            </a:r>
          </a:p>
        </p:txBody>
      </p:sp>
    </p:spTree>
    <p:extLst>
      <p:ext uri="{BB962C8B-B14F-4D97-AF65-F5344CB8AC3E}">
        <p14:creationId xmlns:p14="http://schemas.microsoft.com/office/powerpoint/2010/main" val="944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417C7-8ADC-47CF-AD3B-810B29F7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Fashion-MNIST：方向重現，但整體錯誤率系統性偏高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E0535-5FFC-4A72-A987-20A101AC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這是目前最需要誠實說明、也是下一輪最值得追查的地方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FABCF-7D6B-43AE-890A-3BA40D6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5DDEC-BA23-4E29-8D72-CE3FF42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00250"/>
                <a:gridCol w="1381125"/>
                <a:gridCol w="1524000"/>
                <a:gridCol w="1095375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條件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論文 error %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本專案 error %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差距 pp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ResNet-20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4.39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4.784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+0.394</a:t>
                      </a:r>
                    </a:p>
                  </a:txBody>
                  <a:tcPr marL="66675" marR="66675" marT="66675" marB="66675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ResNet-20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 Erasing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4.02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4.586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+0.566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ResNet-32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Baseline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4.16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4.816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+0.656</a:t>
                      </a:r>
                    </a:p>
                  </a:txBody>
                  <a:tcPr marL="66675" marR="66675" marT="66675" marB="66675" anchor="ctr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ResNet-32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Random Erasing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3.80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4.572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+0.772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8E4C4-0ED5-4D1C-80DC-EA6B740D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B4F51-F88D-4429-AD64-FC311FA3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5715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5C209-6CB9-4C9C-8D3A-640173DB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3357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仍然有改善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36380-BDCC-43C9-9898-1EB1F64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14575"/>
            <a:ext cx="24574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R20：改善 0.198 pp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R32：改善 0.244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F47C1-E8CE-4DED-BF47-FB1212F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8575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9E8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10354-50D9-495C-99B3-F450BEB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57150" cy="1571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5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7DA23-1F11-48A2-8577-75147BE2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004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不可過度推論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15DF0-5797-4903-BFE6-E8946E5E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81450"/>
            <a:ext cx="24574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差距原因尚未被單一實驗證明。資料版本、前處理、實作細節或隨機波動都可能影響。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4BF90-13B1-48E9-A8E8-AA49846B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結論用語：『方法有效方向重現，但 Fashion-MNIST 絕對值未對齊。』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4D6AC-56D6-4A6F-B823-08A593D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1A410-4A09-4B0F-BF20-FF3364E5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Fashion 四個絕對值的平均絕對差為 0.597 pp</a:t>
            </a:r>
          </a:p>
        </p:txBody>
      </p:sp>
    </p:spTree>
    <p:extLst>
      <p:ext uri="{BB962C8B-B14F-4D97-AF65-F5344CB8AC3E}">
        <p14:creationId xmlns:p14="http://schemas.microsoft.com/office/powerpoint/2010/main" val="2659352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0EB10-1DEF-433F-9E39-8C8D158B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作者程式碼固定填值，沒有穩定優於論文文字版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9A230-2C22-4BA9-BA19-B029AF77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只比較 ResNet-20，三個資料集各 5 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C5CA-96A5-4622-98DD-16C5CB54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B14A6-84DD-4EC4-A736-FD9CDBE9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57250" y="180975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857500"/>
                <a:gridCol w="2857500"/>
                <a:gridCol w="2190750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資料集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paper_random error %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author_fixed error %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author − paper</a:t>
                      </a:r>
                    </a:p>
                  </a:txBody>
                  <a:tcPr marL="66675" marR="66675" marT="66675" marB="66675" anchor="ctr">
                    <a:solidFill>
                      <a:srgbClr val="1118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6.678 ± .179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6.744 ± .171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B8453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+0.066 pp</a:t>
                      </a:r>
                    </a:p>
                  </a:txBody>
                  <a:tcPr marL="66675" marR="66675" marT="66675" marB="66675" anchor="ctr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CIFAR-100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29.876 ± .325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30.042 ± .299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B8453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+0.166 pp</a:t>
                      </a:r>
                    </a:p>
                  </a:txBody>
                  <a:tcPr marL="66675" marR="66675" marT="66675" marB="66675" anchor="ctr">
                    <a:solidFill>
                      <a:srgbClr val="EEF1F4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Fashion-MNIST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4.586 ± .058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8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4.612 ± .060</a:t>
                      </a:r>
                    </a:p>
                  </a:txBody>
                  <a:tcPr marL="66675" marR="66675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B8453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+0.026 pp</a:t>
                      </a:r>
                    </a:p>
                  </a:txBody>
                  <a:tcPr marL="66675" marR="66675" marT="66675" marB="66675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5B5F5-4045-456C-A011-6D235CB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三組 author_fixed 都略差，但差距很小，且落在 run-to-run 波動量級附近。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E1D83-A812-4436-A2A6-9EE2909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因此只能說：本實驗沒有看到固定填值的優勢；不能說它在一般情況必然較差。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ABED-8365-45F6-AE8E-4C444FDA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1F352-866C-45D2-BBAA-F7B678B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比較的是最佳測試錯誤率 mean ± population std</a:t>
            </a:r>
          </a:p>
        </p:txBody>
      </p:sp>
    </p:spTree>
    <p:extLst>
      <p:ext uri="{BB962C8B-B14F-4D97-AF65-F5344CB8AC3E}">
        <p14:creationId xmlns:p14="http://schemas.microsoft.com/office/powerpoint/2010/main" val="1366465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CBA64B-E15C-468C-816C-D79B320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結果口徑會影響結論：best 與 final 不一樣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ECD08-0AEC-4909-8257-BDE4AA86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論文沒有明確寫 Table 1 採 best 還是 final；作者程式碼會印出 best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D5FE5-052A-48D8-AE06-631578E7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EE3DC-76C2-4BC0-98C9-788066C6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BDAA-0AB4-4206-8C3A-3FFA1538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095875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A636E-F660-417C-A704-88CD79D8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7507-9395-48F3-86D0-788E4B1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本專案主表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1B754-0910-402A-A71D-60F17CC3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6958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採每次 run 的最佳測試錯誤率，再對 5 runs 計算 mean ± std。這最接近作者程式碼的輸出方式，但仍是推論。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EAAF9-5539-4ADC-8CE7-1FD091E6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5095875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DDD1B-8C6C-4D00-9B78-1AAEC5E0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FA93F-F68B-4302-B3D1-476531B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885950"/>
            <a:ext cx="4695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如果改看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03368-C1DB-4F15-A986-7AE2AA7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66950"/>
            <a:ext cx="46958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最後 epoch 通常更差；best 與 final 的平均差距依組別介於 0.118–1.128 pp。最大出現在 CIFAR-100 / R32 baseline。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11E97-FA38-4D74-BF51-F2907BEB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例：CIFAR-100 / R32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01950-24F0-4E51-AF86-9DB47BF5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best 29.032%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768C9-252E-485E-8FC8-5B72DCAA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10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final 30.160%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8B6FD-F5AC-4803-81B6-AD12A32B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958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差 1.128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44C4B-937F-4F45-B8A4-EE8F6D32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62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報告策略：主表報 best，附帶揭露 final，不隱藏口徑敏感性。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CD60D-A82A-42DF-8EBF-F6E918F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AD648-6D6A-4A8D-8037-DEA65842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作者碼使用 best 支持本專案口徑，但不等於論文已明確揭露</a:t>
            </a:r>
          </a:p>
        </p:txBody>
      </p:sp>
    </p:spTree>
    <p:extLst>
      <p:ext uri="{BB962C8B-B14F-4D97-AF65-F5344CB8AC3E}">
        <p14:creationId xmlns:p14="http://schemas.microsoft.com/office/powerpoint/2010/main" val="15132139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9EDF6-C189-4E1E-919C-CAD2DA7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差距從哪裡來？先分清楚『已確認』與『合理假設』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AB1D3-B9FB-4E68-8498-25EDAC9E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不把猜測包裝成結論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3D314-48A3-45E4-B7EA-D11571E5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5083A-7AB3-4173-A0E8-3568F5EC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2D4B7-97EF-4D43-BDB4-224CB11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已確認的差異或缺漏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A588F-4731-424A-8097-70D7C6B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2000"/>
              </a:lnSpc>
              <a:spcAft>
                <a:spcPts val="8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論文未公開 seeds、std 定義、best/final 口徑。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8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論文隨機填值；作者程式碼固定通道值。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8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作者碼 cudnn.benchmark=True；本專案採 deterministic algorithms。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8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Python patch 曾由 3.12.13 變為 3.12.14；未建立完整 transitive lock。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800"/>
              </a:spcAft>
              <a:buNone/>
              <a:def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checkpoint 只有最佳模型權重，不能精確續跑 optimizer / RNG 狀態。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7AF9A-60B6-4DC8-B70B-4678B1A5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尚待驗證的合理假設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45DCD-F6AB-458B-B150-0B549A4F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9550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2000"/>
              </a:lnSpc>
              <a:spcAft>
                <a:spcPts val="1200"/>
              </a:spcAft>
              <a:buNone/>
              <a:def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Fashion-MNIST 資料版本或前處理細節不同。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1200"/>
              </a:spcAft>
              <a:buNone/>
              <a:def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舊版框架與現代 PyTorch 的數值行為不同。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1200"/>
              </a:spcAft>
              <a:buNone/>
              <a:def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5 runs 仍可能出現抽樣波動。</a:t>
            </a:r>
          </a:p>
          <a:p xmlns:a="http://schemas.openxmlformats.org/drawingml/2006/main">
            <a:pPr marL="228600" indent="-114300">
              <a:lnSpc>
                <a:spcPct val="102000"/>
              </a:lnSpc>
              <a:spcAft>
                <a:spcPts val="1200"/>
              </a:spcAft>
              <a:buNone/>
              <a:def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論文實際內部程式與公開倉庫 commit 可能不完全相同。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771FC-1C24-4B4E-A699-5737582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正確說法：差距存在；其中部分原因已確認，但 Fashion 偏差的主因尚未被因果實驗鎖定。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6B742-704A-48AD-B1BF-D2D3C22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2ABC1-10FB-4D3A-9132-72A3C594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環境：PyTorch 2.12.1+cu126、torchvision 0.27.1+cu126、RTX 3070 Ti</a:t>
            </a:r>
          </a:p>
        </p:txBody>
      </p:sp>
    </p:spTree>
    <p:extLst>
      <p:ext uri="{BB962C8B-B14F-4D97-AF65-F5344CB8AC3E}">
        <p14:creationId xmlns:p14="http://schemas.microsoft.com/office/powerpoint/2010/main" val="17848416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0688B-FF24-4FC5-820B-FEC8D30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完成範圍：核心分類子集，不是整篇論文全部實驗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8A3C7-D224-4FB1-B43F-3FA219DF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對教授最重要的是把完成與未完成邊界講清楚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BF498-857A-409D-87AE-A39E4BF6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93996-DB64-45EB-8AF0-DE4A5A96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90023-790A-4D5B-95AC-670E4CF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6 / 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E9BCC-E09E-46B7-A605-722DF888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Table 1 的 dataset/model rows 已重現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C414B-061D-4A71-98CA-8C1D6B1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+ 3 組 author_fixed 對照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961F0-4655-4BE3-9CAB-FCFE2CE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AA20C-BCF9-4880-B699-615679C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E50B4-86FF-47B1-B472-01B9B3C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CIFAR-10 / CIFAR-100 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Fashion-MNIST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D211A-8D1D-492C-8492-91D8E85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ResNet-20 / ResNet-32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2EE42-256F-4DCD-AD84-0C805BEE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Baseline / paper_random 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author_fixed（R20）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EB5C3-08DC-4FEE-8544-BFC1590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338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5 runs / mean ± std /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可重算資料與報告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C9FE2-0389-4F55-B48E-DF02432B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未完成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DED88-AEEA-4E99-871A-F1EB050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ResNet-44 / 56 / 110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PreAct / WRN / ResNeXt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8EAE5-08A1-4FC4-89AE-762D90E1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Table 2–4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填值、dropout/noise、組合消融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91BCD-ACAE-451F-9462-49E8E8F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Figure 4–5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超參數、遮擋魯棒性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F51D7-66DE-4D46-ADF5-D3BCB625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37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Table 5–9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偵測與 person re-ID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CF2C5-072F-412D-B873-D8865D28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81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建議專案名稱：Random Erasing 核心分類實驗復現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507AA-F875-4F21-9293-504FF036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9EEED-8A5A-48DF-B726-ECEE8EE0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避免使用『完整重現整篇論文』這種超出證據範圍的表述</a:t>
            </a:r>
          </a:p>
        </p:txBody>
      </p:sp>
    </p:spTree>
    <p:extLst>
      <p:ext uri="{BB962C8B-B14F-4D97-AF65-F5344CB8AC3E}">
        <p14:creationId xmlns:p14="http://schemas.microsoft.com/office/powerpoint/2010/main" val="1002198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D8737-F341-4547-8C26-3615DF3F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教授可能會問（一）：結果與方法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A1687-48F6-40F4-84FF-176289E4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每題先給一句能直接回答的版本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6BC99-1490-42EE-820D-2E4D051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F1712-ED7C-42FB-8866-E56D26E4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A9F3E-C55D-487E-BD89-601B39E4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5286375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954B3-8A7E-4F1C-B1B4-5EFA3505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5715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8474E-E6C1-4F4C-98C8-0234BDDE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430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Q1  這算復現成功嗎？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CC130-5056-420F-A631-77494C9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8863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A：核心主旨成功。六組都重現 Random Erasing 優於 baseline；CIFAR 數字大多接近，但 Fashion 絕對值未完全對齊。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B3E7C-7F5D-4AD0-8042-BCD7209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286375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12438-EF89-46C4-B6DB-FC055B2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715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3676D-E588-4F8D-9E4C-E927F41B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Q2  為什麼不用只跑一次？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477D8-F85E-4AAE-AFE6-A09A8938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24075"/>
            <a:ext cx="48863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A：論文 Table 1 本來就報 5 runs 的 mean ± std；單次結果可能只是幸運或倒楣的 seed。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42C65-48CC-4844-BA1E-D6346A5B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286375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205AE-746B-420A-9DD9-222BB899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715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93DAD-5065-40D0-9D66-9465AB3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385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Q3  論文版和作者版哪個正確？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01FF5-B164-4320-848C-51EF9796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19575"/>
            <a:ext cx="48863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A：它們回答不同問題。paper_random 對齊文字描述；author_fixed 對齊公開程式碼，所以本專案分開測。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9E27C-5E75-4439-ACA1-45A4AB9C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286375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9E8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0DED0-52F8-4D81-9F2D-E017B89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7150" cy="1762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53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2FA60C-8F55-43AD-8553-F531071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Q4  為什麼 Fashion 差比較多？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0D5E8-3E4C-4318-B8CA-FAF4A66D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48863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A：目前只確認偏差存在；資料版本、前處理與框架差異是合理假設，但尚未做受控實驗證明主因。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E7779-4B69-46EF-A2BB-6930594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F6B82-0E89-45B5-9B50-2FD5EEB3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答題原則：先講證據，再講限制；不要把推測講成已證實原因</a:t>
            </a:r>
          </a:p>
        </p:txBody>
      </p:sp>
    </p:spTree>
    <p:extLst>
      <p:ext uri="{BB962C8B-B14F-4D97-AF65-F5344CB8AC3E}">
        <p14:creationId xmlns:p14="http://schemas.microsoft.com/office/powerpoint/2010/main" val="2045905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0BD10-80D8-47F2-A8B2-58754891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口試問答（二）：可信度與下一步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E592-A28F-4A8D-B3AE-D6FBB4E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最後用四句話收束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2C009-8478-4C82-B9A9-014DB4F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19BEB-D5DB-4C5D-A7AC-3066412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905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24939-2B6D-4C54-A621-82DF9903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2863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E8EF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5B4AD-AAFA-4039-BBE8-AF08B43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715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A8F70-648D-4D49-A484-F0E8C712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95450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5C9B"/>
                </a:solidFill>
                <a:latin typeface="Microsoft JhengHei"/>
                <a:ea typeface="Microsoft JhengHei"/>
                <a:cs typeface="Microsoft JhengHei"/>
              </a:rPr>
              <a:t>Q5  為什麼用 best，不用 final？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86B9-AF70-4ABC-86D4-2583FF3C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76450"/>
            <a:ext cx="4886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A：作者碼會輸出 best accuracy，較接近論文實務；但論文未明說，所以本專案同時保留 final 供查核。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AC207-F8EC-426E-B639-0F969E45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2863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CEC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2786B-5225-4EBB-9969-75301DBD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5715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CC752-BA18-4140-8D94-7F43A70C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95450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96B3B"/>
                </a:solidFill>
                <a:latin typeface="Microsoft JhengHei"/>
                <a:ea typeface="Microsoft JhengHei"/>
                <a:cs typeface="Microsoft JhengHei"/>
              </a:rPr>
              <a:t>Q6  能完全重跑出一模一樣嗎？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9C8D9-406E-447E-8917-9C2A1575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886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A：設定、程式、seeds、紀錄都在；但 Python patch 漂移、未鎖完整依賴，加上 checkpoint 不含 optimizer/RNG，不能宣稱 bit-for-bit。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54E66-726C-4877-896F-53E35F1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86125"/>
            <a:ext cx="52863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E5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18EB5-2340-49AB-87B2-01192E8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86125"/>
            <a:ext cx="5715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8F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FB2DF-13D8-4551-8A58-C22961AC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575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8F83"/>
                </a:solidFill>
                <a:latin typeface="Microsoft JhengHei"/>
                <a:ea typeface="Microsoft JhengHei"/>
                <a:cs typeface="Microsoft JhengHei"/>
              </a:rPr>
              <a:t>Q7  為什麼沒有做完整論文？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FEA88-986E-4D32-982A-B25DF5A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38575"/>
            <a:ext cx="4886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A：先完成最能驗證主旨的分類核心；完整論文還包含更多架構、消融、偵測與 re-ID，已明確列為未完成。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F805E5-6CBE-4EB4-B515-FCB96857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5286375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9E8E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3FCB0-530B-4DA7-8C70-4F2092EA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5715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53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E3968-D0CD-4E80-B447-A925E484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57575"/>
            <a:ext cx="4886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8453C"/>
                </a:solidFill>
                <a:latin typeface="Microsoft JhengHei"/>
                <a:ea typeface="Microsoft JhengHei"/>
                <a:cs typeface="Microsoft JhengHei"/>
              </a:rPr>
              <a:t>Q8  下一步最值得做什麼？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0C3A7-475F-4A0D-ADF9-EA2444F2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4886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A：先鎖死環境與資料版本，針對 Fashion 做受控排查；再擴到 ResNet-44/56/110 與 Table 2–4 消融。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E75A7-CD10-4B9C-AEFF-974C5FF1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最後一句：我們重現了方法的核心效果，也把沒有對齊的地方與原因不確定性完整留下。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F1930-6A6B-4124-B011-122976C9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1EC3A-ECF1-45C2-9FC3-639402D3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038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7B8491"/>
                </a:solidFill>
                <a:latin typeface="Microsoft JhengHei"/>
                <a:ea typeface="Microsoft JhengHei"/>
                <a:cs typeface="Microsoft JhengHei"/>
              </a:rPr>
              <a:t>完整資料：docs/、runs/、作者碼快照與原論文 PDF 均保留於專案資料夾</a:t>
            </a:r>
          </a:p>
        </p:txBody>
      </p:sp>
    </p:spTree>
    <p:extLst>
      <p:ext uri="{BB962C8B-B14F-4D97-AF65-F5344CB8AC3E}">
        <p14:creationId xmlns:p14="http://schemas.microsoft.com/office/powerpoint/2010/main" val="8709085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2026-09-05T09:38:45.1580000Z</dcterms:created>
  <dcterms:modified xsi:type="dcterms:W3CDTF">2026-09-05T09:38:45.1580000Z</dcterms:modified>
</coreProperties>
</file>